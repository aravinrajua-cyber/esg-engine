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49808"/>
            <a:ext cx="1463040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813816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5200" b="1">
                <a:solidFill>
                  <a:srgbClr val="0B0B0C"/>
                </a:solidFill>
                <a:latin typeface="Inter"/>
              </a:rPr>
              <a:t>PLACEHOLDER: ESG Momentum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90672"/>
            <a:ext cx="67665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000" b="0">
                <a:solidFill>
                  <a:srgbClr val="666663"/>
                </a:solidFill>
                <a:latin typeface="Inter"/>
              </a:rPr>
              <a:t>PLACEHOLDER: Synthetic demonstration deck, not real investment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05072"/>
            <a:ext cx="713232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PLACEHOLDER: Replace every slide before presenting. Current content is scaffold text only.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01 / ESG MOMENTUM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PLACEHOLDER: ESG scores are slow; momentum is the product idea.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PLACEHOLDER: One sentence should carry the opening tension after Claude supplies final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02 /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PLACEHOLDER: The thesis is to separate static ESG level from change.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PLACEHOLDER: Explain the one-idea thesis here without bullets or unsupported performance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03 /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4572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0B0B0C"/>
                </a:solidFill>
                <a:latin typeface="Inter"/>
              </a:rPr>
              <a:t>PLACEHOLDER: Architecture turns raw inputs into explainable ranks.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423160"/>
            <a:ext cx="4389120" cy="246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PLACEHOLDER: Describe fetchers, signals, validation, scoring, and frontend artifacts at a high level.</a:t>
            </a:r>
          </a:p>
        </p:txBody>
      </p:sp>
      <p:pic>
        <p:nvPicPr>
          <p:cNvPr id="4" name="Picture 3" descr="composite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03" y="493776"/>
            <a:ext cx="8328073" cy="5413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04 /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PLACEHOLDER: Data honesty is a feature, not a footnote.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PLACEHOLDER: State synthetic mode, missing-data rules, and non-advice status clearly.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05 /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e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3399"/>
            <a:ext cx="12191999" cy="79247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3657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00" b="1">
                <a:solidFill>
                  <a:srgbClr val="0B0B0C"/>
                </a:solidFill>
                <a:latin typeface="Inter"/>
              </a:rPr>
              <a:t>PLACEHOLDER: The money chart will carry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356616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66663"/>
                </a:solidFill>
                <a:latin typeface="Inter"/>
              </a:rPr>
              <a:t>PLACEHOLDER: Current chart is synthetic/demo output and must not be presented as live validation.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06 /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cebo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33399"/>
            <a:ext cx="12191999" cy="79247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36576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800" b="1">
                <a:solidFill>
                  <a:srgbClr val="0B0B0C"/>
                </a:solidFill>
                <a:latin typeface="Inter"/>
              </a:rPr>
              <a:t>PLACEHOLDER: Placebo testing will guard against false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356616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66663"/>
                </a:solidFill>
                <a:latin typeface="Inter"/>
              </a:rPr>
              <a:t>PLACEHOLDER: Replace with final interpretation only after Claude-owned validation is complete.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07 / FIGURE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4572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0B0B0C"/>
                </a:solidFill>
                <a:latin typeface="Inter"/>
              </a:rPr>
              <a:t>PLACEHOLDER: Product screenshots show the screening workflow.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423160"/>
            <a:ext cx="4389120" cy="246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PLACEHOLDER: Use actual browser screenshots after frontend QA; this figure is a placeholder artifact.</a:t>
            </a:r>
          </a:p>
        </p:txBody>
      </p:sp>
      <p:pic>
        <p:nvPicPr>
          <p:cNvPr id="4" name="Picture 3" descr="top20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03" y="493776"/>
            <a:ext cx="8328073" cy="5413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08 / SPLIT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4572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0B0B0C"/>
                </a:solidFill>
                <a:latin typeface="Inter"/>
              </a:rPr>
              <a:t>PLACEHOLDER: A case study should explain one company without overclaiming.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423160"/>
            <a:ext cx="4389120" cy="246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PLACEHOLDER: Insert a synthetic or approved live case study only with clear source status.</a:t>
            </a:r>
          </a:p>
        </p:txBody>
      </p:sp>
      <p:pic>
        <p:nvPicPr>
          <p:cNvPr id="4" name="Picture 3" descr="company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03" y="493776"/>
            <a:ext cx="8328073" cy="5413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09 / SPLIT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PLACEHOLDER: The risks are data coverage, market structure, and model drift.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PLACEHOLDER: Keep this candid. Do not hide limitations behind product language.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10 / STATEMENT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4572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0B0B0C"/>
                </a:solidFill>
                <a:latin typeface="Inter"/>
              </a:rPr>
              <a:t>PLACEHOLDER: The upgrade path moves from synthetic JSON to governed live inputs.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423160"/>
            <a:ext cx="4389120" cy="246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PLACEHOLDER: Describe validation gates, licensed data, and human review before production use.</a:t>
            </a:r>
          </a:p>
        </p:txBody>
      </p:sp>
      <p:pic>
        <p:nvPicPr>
          <p:cNvPr id="4" name="Picture 3" descr="cover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03" y="493776"/>
            <a:ext cx="8328073" cy="5413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11 / SPLIT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987552"/>
            <a:ext cx="1463040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72768"/>
            <a:ext cx="98755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1">
                <a:solidFill>
                  <a:srgbClr val="0B0B0C"/>
                </a:solidFill>
                <a:latin typeface="Inter"/>
              </a:rPr>
              <a:t>PLACEHOLDER: Summary: explainable ESG momentum, honestly labelled.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023360"/>
            <a:ext cx="786384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666663"/>
                </a:solidFill>
                <a:latin typeface="Inter"/>
              </a:rPr>
              <a:t>PLACEHOLDER: End with what is proven by the prototype and what remains unproven.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12 /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