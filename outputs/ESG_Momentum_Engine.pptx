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49808"/>
            <a:ext cx="1463040" cy="32004"/>
          </a:xfrm>
          <a:prstGeom prst="rect">
            <a:avLst/>
          </a:prstGeom>
          <a:solidFill>
            <a:srgbClr val="3B3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353312"/>
            <a:ext cx="813816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5200" b="1">
                <a:solidFill>
                  <a:srgbClr val="0B0B0C"/>
                </a:solidFill>
                <a:latin typeface="Inter"/>
              </a:rPr>
              <a:t>ESG Momentum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090672"/>
            <a:ext cx="6766560" cy="548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2000" b="0">
                <a:solidFill>
                  <a:srgbClr val="666663"/>
                </a:solidFill>
                <a:latin typeface="Inter"/>
              </a:rPr>
              <a:t>PolyFinTech100 API Hackathon 2026 / CGS International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005072"/>
            <a:ext cx="7132320" cy="1280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0">
                <a:solidFill>
                  <a:srgbClr val="666663"/>
                </a:solidFill>
                <a:latin typeface="Inter"/>
              </a:rPr>
              <a:t>Predicting ESG trajectory improvement before ratings catch up.
Team: The Backtesters / 2026-06-13
Live demo: backtesters.vercel.app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82512"/>
            <a:ext cx="237744" cy="32004"/>
          </a:xfrm>
          <a:prstGeom prst="rect">
            <a:avLst/>
          </a:prstGeom>
          <a:solidFill>
            <a:srgbClr val="3B3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800" b="1">
                <a:solidFill>
                  <a:srgbClr val="666663"/>
                </a:solidFill>
                <a:latin typeface="Inter"/>
              </a:rPr>
              <a:t>01 / ESG MOMENTUM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97280"/>
            <a:ext cx="1033272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1">
                <a:solidFill>
                  <a:srgbClr val="0B0B0C"/>
                </a:solidFill>
                <a:latin typeface="Inter"/>
              </a:rPr>
              <a:t>ESG ratings lag. The change leads.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4526280"/>
            <a:ext cx="8046720" cy="91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0">
                <a:solidFill>
                  <a:srgbClr val="666663"/>
                </a:solidFill>
                <a:latin typeface="Inter"/>
              </a:rPr>
              <a:t>Problem: static ESG scores are lagging indicators - they miss early movers.
Thesis: the CHANGE in ESG signal predicts returns before ratings update.
Universe: 500 screened -&gt; 198 liquid ASEAN names.
Markets: SG 47 / MY 46 / ID 43 / TH 37 / VN 25.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6382512"/>
            <a:ext cx="237744" cy="32004"/>
          </a:xfrm>
          <a:prstGeom prst="rect">
            <a:avLst/>
          </a:prstGeom>
          <a:solidFill>
            <a:srgbClr val="3B3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6272784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800" b="1">
                <a:solidFill>
                  <a:srgbClr val="666663"/>
                </a:solidFill>
                <a:latin typeface="Inter"/>
              </a:rPr>
              <a:t>02 / STATEMENT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97280"/>
            <a:ext cx="1033272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1">
                <a:solidFill>
                  <a:srgbClr val="0B0B0C"/>
                </a:solidFill>
                <a:latin typeface="Inter"/>
              </a:rPr>
              <a:t>Data pipeline and signal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4526280"/>
            <a:ext cx="8046720" cy="91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0">
                <a:solidFill>
                  <a:srgbClr val="666663"/>
                </a:solidFill>
                <a:latin typeface="Inter"/>
              </a:rPr>
              <a:t>KEPT: yfinance (prices, FX, fundamentals) + GDELT 2.0 (news sentiment).
DROPPED: Yahoo ESG endpoint (HTTP 404); SGX/Bursa disclosures (empty feed).
Signal families: A sentiment, C fundamentals, F regulatory.
ICs Newey-West corrected; Benjamini-Hochberg FDR at q=0.10.
Frozen result: A3 (attention) and A4 (tone dispersion) survived FDR; A1, C and F did not.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6382512"/>
            <a:ext cx="237744" cy="32004"/>
          </a:xfrm>
          <a:prstGeom prst="rect">
            <a:avLst/>
          </a:prstGeom>
          <a:solidFill>
            <a:srgbClr val="3B3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6272784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800" b="1">
                <a:solidFill>
                  <a:srgbClr val="666663"/>
                </a:solidFill>
                <a:latin typeface="Inter"/>
              </a:rPr>
              <a:t>03 / STATEMENT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97280"/>
            <a:ext cx="1033272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1">
                <a:solidFill>
                  <a:srgbClr val="0B0B0C"/>
                </a:solidFill>
                <a:latin typeface="Inter"/>
              </a:rPr>
              <a:t>Validation: the honest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4526280"/>
            <a:ext cx="8046720" cy="91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0">
                <a:solidFill>
                  <a:srgbClr val="666663"/>
                </a:solidFill>
                <a:latin typeface="Inter"/>
              </a:rPr>
              <a:t>Fama-MacBeth with momentum/size/sector/country controls; FDR q=0.10; test window touched once.
Survivors: A3 (attention), A4 (tone dispersion). A1 (sentiment velocity) did NOT survive.
Winner MASTER: net Q5-Q1 +6.8%/yr, but 95% CI [-1.8%, +15.8%] straddles zero - not significant net of costs.
Gross placebo p=0.003 (signal real before costs); Deflated Sharpe 0.753; out-of-sample IC ~ 0.
Honest reading: the gross signal is real; realistic costs erode it to inconclusive at net level.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6382512"/>
            <a:ext cx="237744" cy="32004"/>
          </a:xfrm>
          <a:prstGeom prst="rect">
            <a:avLst/>
          </a:prstGeom>
          <a:solidFill>
            <a:srgbClr val="3B3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6272784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800" b="1">
                <a:solidFill>
                  <a:srgbClr val="666663"/>
                </a:solidFill>
                <a:latin typeface="Inter"/>
              </a:rPr>
              <a:t>04 / STATEMENT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97280"/>
            <a:ext cx="1033272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1">
                <a:solidFill>
                  <a:srgbClr val="0B0B0C"/>
                </a:solidFill>
                <a:latin typeface="Inter"/>
              </a:rPr>
              <a:t>Product: live, interactive,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4526280"/>
            <a:ext cx="8046720" cy="91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0">
                <a:solidFill>
                  <a:srgbClr val="666663"/>
                </a:solidFill>
                <a:latin typeface="Inter"/>
              </a:rPr>
              <a:t>Live site: backtesters.vercel.app
Dark monochrome interface, fully interactive.
198-name screener plus a Model Performance dashboard.
Synthetic-data badges auto-hide when real Phase 4 data lands.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6382512"/>
            <a:ext cx="237744" cy="32004"/>
          </a:xfrm>
          <a:prstGeom prst="rect">
            <a:avLst/>
          </a:prstGeom>
          <a:solidFill>
            <a:srgbClr val="3B3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6272784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800" b="1">
                <a:solidFill>
                  <a:srgbClr val="666663"/>
                </a:solidFill>
                <a:latin typeface="Inter"/>
              </a:rPr>
              <a:t>05 / STATEMENT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97280"/>
            <a:ext cx="1033272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1">
                <a:solidFill>
                  <a:srgbClr val="0B0B0C"/>
                </a:solidFill>
                <a:latin typeface="Inter"/>
              </a:rPr>
              <a:t>Risks and data 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4526280"/>
            <a:ext cx="8046720" cy="91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0">
                <a:solidFill>
                  <a:srgbClr val="666663"/>
                </a:solidFill>
                <a:latin typeface="Inter"/>
              </a:rPr>
              <a:t>No fabricated data - missing values stay missing.
B-family dropped (Yahoo 404); D-family dropped (empty disclosure feed).
Look-ahead: enforced train/test split. Survivorship: fixed universe.
Multiple testing: Benjamini-Hochberg FDR at q=0.10.
Research demonstration - not investment advice.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6382512"/>
            <a:ext cx="237744" cy="32004"/>
          </a:xfrm>
          <a:prstGeom prst="rect">
            <a:avLst/>
          </a:prstGeom>
          <a:solidFill>
            <a:srgbClr val="3B3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6272784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800" b="1">
                <a:solidFill>
                  <a:srgbClr val="666663"/>
                </a:solidFill>
                <a:latin typeface="Inter"/>
              </a:rPr>
              <a:t>06 / STATEMENT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987552"/>
            <a:ext cx="1463040" cy="32004"/>
          </a:xfrm>
          <a:prstGeom prst="rect">
            <a:avLst/>
          </a:prstGeom>
          <a:solidFill>
            <a:srgbClr val="3B3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572768"/>
            <a:ext cx="9875520" cy="2011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600" b="1">
                <a:solidFill>
                  <a:srgbClr val="0B0B0C"/>
                </a:solidFill>
                <a:latin typeface="Inter"/>
              </a:rPr>
              <a:t>We mapped the boundary of where the signal lives.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4023360"/>
            <a:ext cx="786384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0">
                <a:solidFill>
                  <a:srgbClr val="666663"/>
                </a:solidFill>
                <a:latin typeface="Inter"/>
              </a:rPr>
              <a:t>A real GROSS sentiment-attention signal (placebo p=0.003); net of costs the edge is inconclusive.
Rigorous by construction: FDR, Deflated Sharpe, placebo, a touched-once out-of-sample window.
Next: licensed point-in-time ESG data restores the dropped families and sharpens the test.
backtesters.vercel.app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382512"/>
            <a:ext cx="237744" cy="32004"/>
          </a:xfrm>
          <a:prstGeom prst="rect">
            <a:avLst/>
          </a:prstGeom>
          <a:solidFill>
            <a:srgbClr val="3B3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800" b="1">
                <a:solidFill>
                  <a:srgbClr val="666663"/>
                </a:solidFill>
                <a:latin typeface="Inter"/>
              </a:rPr>
              <a:t>07 / CLOSING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