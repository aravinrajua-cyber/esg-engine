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49808"/>
            <a:ext cx="1463040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353312"/>
            <a:ext cx="8138160" cy="1645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5200" b="1">
                <a:solidFill>
                  <a:srgbClr val="0B0B0C"/>
                </a:solidFill>
                <a:latin typeface="Inter"/>
              </a:rPr>
              <a:t>ESG Momentum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090672"/>
            <a:ext cx="6766560" cy="548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2000" b="0">
                <a:solidFill>
                  <a:srgbClr val="666663"/>
                </a:solidFill>
                <a:latin typeface="Inter"/>
              </a:rPr>
              <a:t>PolyFinTech100 API Hackathon 2026 / CGS International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005072"/>
            <a:ext cx="7132320" cy="1280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Predicting ESG trajectory improvement before ratings catch up.
Team: The Backtesters / 2026-06-13
Live demo: backtesters.vercel.app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01 / ESG MOMENTUM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ESG ratings lag. The change leads.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Problem: static ESG scores are lagging indicators - they miss early movers.
Thesis: the CHANGE in ESG signal predicts returns before ratings update.
Universe: 500 screened -&gt; 198 liquid ASEAN names.
Markets: SG 47 / MY 46 / ID 43 / TH 37 / VN 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02 /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4572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0B0B0C"/>
                </a:solidFill>
                <a:latin typeface="Inter"/>
              </a:rPr>
              <a:t>Data pipeline and signal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423160"/>
            <a:ext cx="4389120" cy="246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KEPT: yfinance (prices, FX, fundamentals) + GDELT 2.0 (news sentiment).
DROPPED: Yahoo ESG endpoint (HTTP 404); SGX/Bursa disclosures (empty feed).
Signal families: A sentiment, C fundamentals, F regulatory.
ICs Newey-West corrected; Benjamini-Hochberg FDR at q=0.10.
Chart illustrative until Phase 4 is frozen.</a:t>
            </a:r>
          </a:p>
        </p:txBody>
      </p:sp>
      <p:pic>
        <p:nvPicPr>
          <p:cNvPr id="4" name="Picture 3" descr="i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03" y="493776"/>
            <a:ext cx="8328073" cy="5413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03 /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13232"/>
            <a:ext cx="4572000" cy="1463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3100" b="1">
                <a:solidFill>
                  <a:srgbClr val="0B0B0C"/>
                </a:solidFill>
                <a:latin typeface="Inter"/>
              </a:rPr>
              <a:t>Validation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423160"/>
            <a:ext cx="4389120" cy="2468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>
                <a:solidFill>
                  <a:srgbClr val="666663"/>
                </a:solidFill>
                <a:latin typeface="Inter"/>
              </a:rPr>
              <a:t>Fama-MacBeth regressions with momentum, size, sector and country controls.
Four composites compared: EIP, TRI, CPS, MASTER.
Block-bootstrap 95% CIs; train &lt;=2021-12 / test 2022+ enforced once.
1,000-permutation placebo test - real model in the top 2%.
Illustrative until Phase 4 is frozen.</a:t>
            </a:r>
          </a:p>
        </p:txBody>
      </p:sp>
      <p:pic>
        <p:nvPicPr>
          <p:cNvPr id="4" name="Picture 3" descr="placebo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03" y="493776"/>
            <a:ext cx="8328073" cy="54132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04 /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Product: live, interactive,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Live site: backtesters.vercel.app
Dark monochrome interface, fully interactive.
198-name screener plus a Model Performance dashboard.
Synthetic-data badges auto-hide when real Phase 4 data lands.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05 /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1097280"/>
            <a:ext cx="1033272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4400" b="1">
                <a:solidFill>
                  <a:srgbClr val="0B0B0C"/>
                </a:solidFill>
                <a:latin typeface="Inter"/>
              </a:rPr>
              <a:t>Risks and data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4526280"/>
            <a:ext cx="804672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0">
                <a:solidFill>
                  <a:srgbClr val="666663"/>
                </a:solidFill>
                <a:latin typeface="Inter"/>
              </a:rPr>
              <a:t>No fabricated data - missing values stay missing.
B-family dropped (Yahoo 404); D-family dropped (empty disclosure feed).
Look-ahead: enforced train/test split. Survivorship: fixed universe.
Multiple testing: Benjamini-Hochberg FDR at q=0.10.
Research demonstration - not investment advice.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06 / STATEMENT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987552"/>
            <a:ext cx="1463040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572768"/>
            <a:ext cx="9875520" cy="2011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4600" b="1">
                <a:solidFill>
                  <a:srgbClr val="0B0B0C"/>
                </a:solidFill>
                <a:latin typeface="Inter"/>
              </a:rPr>
              <a:t>ESG momentum predicts returns before ratings catch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4023360"/>
            <a:ext cx="786384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>
                <a:solidFill>
                  <a:srgbClr val="666663"/>
                </a:solidFill>
                <a:latin typeface="Inter"/>
              </a:rPr>
              <a:t>3 signal families, 4 composites, a 198-name ASEAN universe.
Next: licensed ESG data -&gt; full disclosure feed -&gt; live pipeline.
backtesters.vercel.app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382512"/>
            <a:ext cx="237744" cy="32004"/>
          </a:xfrm>
          <a:prstGeom prst="rect">
            <a:avLst/>
          </a:prstGeom>
          <a:solidFill>
            <a:srgbClr val="3B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272784"/>
            <a:ext cx="34747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94000"/>
              </a:lnSpc>
            </a:pPr>
            <a:r>
              <a:rPr sz="800" b="1">
                <a:solidFill>
                  <a:srgbClr val="666663"/>
                </a:solidFill>
                <a:latin typeface="Inter"/>
              </a:rPr>
              <a:t>07 /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